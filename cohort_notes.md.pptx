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176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AF49F7E-6718-4464-9B8A-28983B86578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D7D41FA-9A90-4EA8-8BF3-6F1ACE6F089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Structured Query Language (SQL) is the lingua franca of data.</a:t>
          </a:r>
        </a:p>
      </dgm:t>
    </dgm:pt>
    <dgm:pt modelId="{8F588F36-FD31-440B-88EE-E42A5C786A30}" type="parTrans" cxnId="{6A2EA574-0F1A-4A1F-82E6-5EB979DCA2EC}">
      <dgm:prSet/>
      <dgm:spPr/>
      <dgm:t>
        <a:bodyPr/>
        <a:lstStyle/>
        <a:p>
          <a:endParaRPr lang="en-US"/>
        </a:p>
      </dgm:t>
    </dgm:pt>
    <dgm:pt modelId="{6DCFCEC5-6261-4687-985B-7EF4DF32CF08}" type="sibTrans" cxnId="{6A2EA574-0F1A-4A1F-82E6-5EB979DCA2EC}">
      <dgm:prSet/>
      <dgm:spPr/>
      <dgm:t>
        <a:bodyPr/>
        <a:lstStyle/>
        <a:p>
          <a:endParaRPr lang="en-US"/>
        </a:p>
      </dgm:t>
    </dgm:pt>
    <dgm:pt modelId="{5769FB7C-CF0D-4E2B-B915-2FC8C63FD40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Declarative – describe what you want, not how to compute it.</a:t>
          </a:r>
        </a:p>
      </dgm:t>
    </dgm:pt>
    <dgm:pt modelId="{0902AAD3-B233-43AA-BC95-C3317A81D620}" type="parTrans" cxnId="{B6B316D8-7FD6-4BBB-91EC-6721FC0B634F}">
      <dgm:prSet/>
      <dgm:spPr/>
      <dgm:t>
        <a:bodyPr/>
        <a:lstStyle/>
        <a:p>
          <a:endParaRPr lang="en-US"/>
        </a:p>
      </dgm:t>
    </dgm:pt>
    <dgm:pt modelId="{20B135DC-ADF1-42F9-BB94-DF404FA53C17}" type="sibTrans" cxnId="{B6B316D8-7FD6-4BBB-91EC-6721FC0B634F}">
      <dgm:prSet/>
      <dgm:spPr/>
      <dgm:t>
        <a:bodyPr/>
        <a:lstStyle/>
        <a:p>
          <a:endParaRPr lang="en-US"/>
        </a:p>
      </dgm:t>
    </dgm:pt>
    <dgm:pt modelId="{BA3EF3A2-A5C5-456B-932C-5FB098160E2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Portable across MySQL, PostgreSQL, DuckDB, BigQuery.</a:t>
          </a:r>
        </a:p>
      </dgm:t>
    </dgm:pt>
    <dgm:pt modelId="{A6826B79-AA7E-43BA-AE29-3A01D1B607A9}" type="parTrans" cxnId="{BDD2124B-7C1E-4372-8828-6F7F31442769}">
      <dgm:prSet/>
      <dgm:spPr/>
      <dgm:t>
        <a:bodyPr/>
        <a:lstStyle/>
        <a:p>
          <a:endParaRPr lang="en-US"/>
        </a:p>
      </dgm:t>
    </dgm:pt>
    <dgm:pt modelId="{3582BEED-2979-46E0-BFE1-86554BC7635C}" type="sibTrans" cxnId="{BDD2124B-7C1E-4372-8828-6F7F31442769}">
      <dgm:prSet/>
      <dgm:spPr/>
      <dgm:t>
        <a:bodyPr/>
        <a:lstStyle/>
        <a:p>
          <a:endParaRPr lang="en-US"/>
        </a:p>
      </dgm:t>
    </dgm:pt>
    <dgm:pt modelId="{171D8A08-375F-45B7-B52A-054791225D6A}" type="pres">
      <dgm:prSet presAssocID="{0AF49F7E-6718-4464-9B8A-28983B865787}" presName="root" presStyleCnt="0">
        <dgm:presLayoutVars>
          <dgm:dir/>
          <dgm:resizeHandles val="exact"/>
        </dgm:presLayoutVars>
      </dgm:prSet>
      <dgm:spPr/>
    </dgm:pt>
    <dgm:pt modelId="{F05ADF24-3171-461E-B12B-9638D4657804}" type="pres">
      <dgm:prSet presAssocID="{7D7D41FA-9A90-4EA8-8BF3-6F1ACE6F0890}" presName="compNode" presStyleCnt="0"/>
      <dgm:spPr/>
    </dgm:pt>
    <dgm:pt modelId="{C4B772EF-34EC-402F-BEC4-F483D4650FCD}" type="pres">
      <dgm:prSet presAssocID="{7D7D41FA-9A90-4EA8-8BF3-6F1ACE6F0890}" presName="bgRect" presStyleLbl="bgShp" presStyleIdx="0" presStyleCnt="3"/>
      <dgm:spPr/>
    </dgm:pt>
    <dgm:pt modelId="{DD9ACBD6-C572-4259-9F25-FC1EE8597633}" type="pres">
      <dgm:prSet presAssocID="{7D7D41FA-9A90-4EA8-8BF3-6F1ACE6F089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AAE132E6-0509-4D39-A9D2-CAB8B46EAABA}" type="pres">
      <dgm:prSet presAssocID="{7D7D41FA-9A90-4EA8-8BF3-6F1ACE6F0890}" presName="spaceRect" presStyleCnt="0"/>
      <dgm:spPr/>
    </dgm:pt>
    <dgm:pt modelId="{CE8C749D-69A3-4F4B-BE8F-26D848D3ED27}" type="pres">
      <dgm:prSet presAssocID="{7D7D41FA-9A90-4EA8-8BF3-6F1ACE6F0890}" presName="parTx" presStyleLbl="revTx" presStyleIdx="0" presStyleCnt="3">
        <dgm:presLayoutVars>
          <dgm:chMax val="0"/>
          <dgm:chPref val="0"/>
        </dgm:presLayoutVars>
      </dgm:prSet>
      <dgm:spPr/>
    </dgm:pt>
    <dgm:pt modelId="{B2C0C5CA-A3AE-4743-876F-40763231F7E9}" type="pres">
      <dgm:prSet presAssocID="{6DCFCEC5-6261-4687-985B-7EF4DF32CF08}" presName="sibTrans" presStyleCnt="0"/>
      <dgm:spPr/>
    </dgm:pt>
    <dgm:pt modelId="{CBFA0DD7-AF39-446A-95EE-81FEC269D59E}" type="pres">
      <dgm:prSet presAssocID="{5769FB7C-CF0D-4E2B-B915-2FC8C63FD40E}" presName="compNode" presStyleCnt="0"/>
      <dgm:spPr/>
    </dgm:pt>
    <dgm:pt modelId="{F8021BCB-B4E0-40CA-BE92-72B947CE9C62}" type="pres">
      <dgm:prSet presAssocID="{5769FB7C-CF0D-4E2B-B915-2FC8C63FD40E}" presName="bgRect" presStyleLbl="bgShp" presStyleIdx="1" presStyleCnt="3"/>
      <dgm:spPr/>
    </dgm:pt>
    <dgm:pt modelId="{3819DC63-25A5-4699-99B1-B34FECD4E44C}" type="pres">
      <dgm:prSet presAssocID="{5769FB7C-CF0D-4E2B-B915-2FC8C63FD40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nfinity"/>
        </a:ext>
      </dgm:extLst>
    </dgm:pt>
    <dgm:pt modelId="{52E9A9B5-FBB4-4F29-9036-B35B85F6A901}" type="pres">
      <dgm:prSet presAssocID="{5769FB7C-CF0D-4E2B-B915-2FC8C63FD40E}" presName="spaceRect" presStyleCnt="0"/>
      <dgm:spPr/>
    </dgm:pt>
    <dgm:pt modelId="{2AD857E2-07F5-4D8D-BE07-B22290B2A458}" type="pres">
      <dgm:prSet presAssocID="{5769FB7C-CF0D-4E2B-B915-2FC8C63FD40E}" presName="parTx" presStyleLbl="revTx" presStyleIdx="1" presStyleCnt="3">
        <dgm:presLayoutVars>
          <dgm:chMax val="0"/>
          <dgm:chPref val="0"/>
        </dgm:presLayoutVars>
      </dgm:prSet>
      <dgm:spPr/>
    </dgm:pt>
    <dgm:pt modelId="{1042A864-CBC8-4713-83B4-1EEC76321810}" type="pres">
      <dgm:prSet presAssocID="{20B135DC-ADF1-42F9-BB94-DF404FA53C17}" presName="sibTrans" presStyleCnt="0"/>
      <dgm:spPr/>
    </dgm:pt>
    <dgm:pt modelId="{C7301677-F40F-42F5-A668-37136021158B}" type="pres">
      <dgm:prSet presAssocID="{BA3EF3A2-A5C5-456B-932C-5FB098160E29}" presName="compNode" presStyleCnt="0"/>
      <dgm:spPr/>
    </dgm:pt>
    <dgm:pt modelId="{F595DAD1-5C1C-4AC4-9192-C61D2D0F79E4}" type="pres">
      <dgm:prSet presAssocID="{BA3EF3A2-A5C5-456B-932C-5FB098160E29}" presName="bgRect" presStyleLbl="bgShp" presStyleIdx="2" presStyleCnt="3"/>
      <dgm:spPr/>
    </dgm:pt>
    <dgm:pt modelId="{629B9702-F4B6-4425-9145-ADF084F47F23}" type="pres">
      <dgm:prSet presAssocID="{BA3EF3A2-A5C5-456B-932C-5FB098160E2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V"/>
        </a:ext>
      </dgm:extLst>
    </dgm:pt>
    <dgm:pt modelId="{D9114E8C-D6EE-4053-895C-9D82819C01EB}" type="pres">
      <dgm:prSet presAssocID="{BA3EF3A2-A5C5-456B-932C-5FB098160E29}" presName="spaceRect" presStyleCnt="0"/>
      <dgm:spPr/>
    </dgm:pt>
    <dgm:pt modelId="{D5A2797B-4756-4F95-A710-D00D59BF1A39}" type="pres">
      <dgm:prSet presAssocID="{BA3EF3A2-A5C5-456B-932C-5FB098160E2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F96EB1B-A5F3-4738-ABE4-0426B2907C9F}" type="presOf" srcId="{BA3EF3A2-A5C5-456B-932C-5FB098160E29}" destId="{D5A2797B-4756-4F95-A710-D00D59BF1A39}" srcOrd="0" destOrd="0" presId="urn:microsoft.com/office/officeart/2018/2/layout/IconVerticalSolidList"/>
    <dgm:cxn modelId="{BDD2124B-7C1E-4372-8828-6F7F31442769}" srcId="{0AF49F7E-6718-4464-9B8A-28983B865787}" destId="{BA3EF3A2-A5C5-456B-932C-5FB098160E29}" srcOrd="2" destOrd="0" parTransId="{A6826B79-AA7E-43BA-AE29-3A01D1B607A9}" sibTransId="{3582BEED-2979-46E0-BFE1-86554BC7635C}"/>
    <dgm:cxn modelId="{6A2EA574-0F1A-4A1F-82E6-5EB979DCA2EC}" srcId="{0AF49F7E-6718-4464-9B8A-28983B865787}" destId="{7D7D41FA-9A90-4EA8-8BF3-6F1ACE6F0890}" srcOrd="0" destOrd="0" parTransId="{8F588F36-FD31-440B-88EE-E42A5C786A30}" sibTransId="{6DCFCEC5-6261-4687-985B-7EF4DF32CF08}"/>
    <dgm:cxn modelId="{E34900A7-4626-4084-BE30-A958A4B719A9}" type="presOf" srcId="{0AF49F7E-6718-4464-9B8A-28983B865787}" destId="{171D8A08-375F-45B7-B52A-054791225D6A}" srcOrd="0" destOrd="0" presId="urn:microsoft.com/office/officeart/2018/2/layout/IconVerticalSolidList"/>
    <dgm:cxn modelId="{45E441D7-DCF0-40DE-9EAD-007F34DB6187}" type="presOf" srcId="{7D7D41FA-9A90-4EA8-8BF3-6F1ACE6F0890}" destId="{CE8C749D-69A3-4F4B-BE8F-26D848D3ED27}" srcOrd="0" destOrd="0" presId="urn:microsoft.com/office/officeart/2018/2/layout/IconVerticalSolidList"/>
    <dgm:cxn modelId="{B6B316D8-7FD6-4BBB-91EC-6721FC0B634F}" srcId="{0AF49F7E-6718-4464-9B8A-28983B865787}" destId="{5769FB7C-CF0D-4E2B-B915-2FC8C63FD40E}" srcOrd="1" destOrd="0" parTransId="{0902AAD3-B233-43AA-BC95-C3317A81D620}" sibTransId="{20B135DC-ADF1-42F9-BB94-DF404FA53C17}"/>
    <dgm:cxn modelId="{12C0E2FF-9CD7-410A-9BAA-D93E94C93333}" type="presOf" srcId="{5769FB7C-CF0D-4E2B-B915-2FC8C63FD40E}" destId="{2AD857E2-07F5-4D8D-BE07-B22290B2A458}" srcOrd="0" destOrd="0" presId="urn:microsoft.com/office/officeart/2018/2/layout/IconVerticalSolidList"/>
    <dgm:cxn modelId="{1B15EABC-877F-45D7-95CF-B885F688A9E1}" type="presParOf" srcId="{171D8A08-375F-45B7-B52A-054791225D6A}" destId="{F05ADF24-3171-461E-B12B-9638D4657804}" srcOrd="0" destOrd="0" presId="urn:microsoft.com/office/officeart/2018/2/layout/IconVerticalSolidList"/>
    <dgm:cxn modelId="{1D33B8DC-5714-4A6E-A3EB-57E655A0F16D}" type="presParOf" srcId="{F05ADF24-3171-461E-B12B-9638D4657804}" destId="{C4B772EF-34EC-402F-BEC4-F483D4650FCD}" srcOrd="0" destOrd="0" presId="urn:microsoft.com/office/officeart/2018/2/layout/IconVerticalSolidList"/>
    <dgm:cxn modelId="{D525FF37-0998-4D66-9B21-66795DF07356}" type="presParOf" srcId="{F05ADF24-3171-461E-B12B-9638D4657804}" destId="{DD9ACBD6-C572-4259-9F25-FC1EE8597633}" srcOrd="1" destOrd="0" presId="urn:microsoft.com/office/officeart/2018/2/layout/IconVerticalSolidList"/>
    <dgm:cxn modelId="{95E3CCA0-99CB-425B-9706-59A94AFF8B43}" type="presParOf" srcId="{F05ADF24-3171-461E-B12B-9638D4657804}" destId="{AAE132E6-0509-4D39-A9D2-CAB8B46EAABA}" srcOrd="2" destOrd="0" presId="urn:microsoft.com/office/officeart/2018/2/layout/IconVerticalSolidList"/>
    <dgm:cxn modelId="{E78B3485-AF85-462A-AC5E-99B4016C6D5C}" type="presParOf" srcId="{F05ADF24-3171-461E-B12B-9638D4657804}" destId="{CE8C749D-69A3-4F4B-BE8F-26D848D3ED27}" srcOrd="3" destOrd="0" presId="urn:microsoft.com/office/officeart/2018/2/layout/IconVerticalSolidList"/>
    <dgm:cxn modelId="{1E1C2F76-265F-497A-8711-01831A8EBF6F}" type="presParOf" srcId="{171D8A08-375F-45B7-B52A-054791225D6A}" destId="{B2C0C5CA-A3AE-4743-876F-40763231F7E9}" srcOrd="1" destOrd="0" presId="urn:microsoft.com/office/officeart/2018/2/layout/IconVerticalSolidList"/>
    <dgm:cxn modelId="{CA793BCF-2CC1-4025-A368-27F64E1411AC}" type="presParOf" srcId="{171D8A08-375F-45B7-B52A-054791225D6A}" destId="{CBFA0DD7-AF39-446A-95EE-81FEC269D59E}" srcOrd="2" destOrd="0" presId="urn:microsoft.com/office/officeart/2018/2/layout/IconVerticalSolidList"/>
    <dgm:cxn modelId="{27FE4BF0-99CB-4264-A560-76B3EB24BA6F}" type="presParOf" srcId="{CBFA0DD7-AF39-446A-95EE-81FEC269D59E}" destId="{F8021BCB-B4E0-40CA-BE92-72B947CE9C62}" srcOrd="0" destOrd="0" presId="urn:microsoft.com/office/officeart/2018/2/layout/IconVerticalSolidList"/>
    <dgm:cxn modelId="{1384977A-8472-46AD-99D8-AD1ADA0C10F2}" type="presParOf" srcId="{CBFA0DD7-AF39-446A-95EE-81FEC269D59E}" destId="{3819DC63-25A5-4699-99B1-B34FECD4E44C}" srcOrd="1" destOrd="0" presId="urn:microsoft.com/office/officeart/2018/2/layout/IconVerticalSolidList"/>
    <dgm:cxn modelId="{F8A51106-DC71-4E2B-962E-EB71B1CE62EE}" type="presParOf" srcId="{CBFA0DD7-AF39-446A-95EE-81FEC269D59E}" destId="{52E9A9B5-FBB4-4F29-9036-B35B85F6A901}" srcOrd="2" destOrd="0" presId="urn:microsoft.com/office/officeart/2018/2/layout/IconVerticalSolidList"/>
    <dgm:cxn modelId="{804AFC76-B5E5-46DA-94B2-532138CBBBBE}" type="presParOf" srcId="{CBFA0DD7-AF39-446A-95EE-81FEC269D59E}" destId="{2AD857E2-07F5-4D8D-BE07-B22290B2A458}" srcOrd="3" destOrd="0" presId="urn:microsoft.com/office/officeart/2018/2/layout/IconVerticalSolidList"/>
    <dgm:cxn modelId="{F9A8A250-F25F-4C42-B941-58767CB4672F}" type="presParOf" srcId="{171D8A08-375F-45B7-B52A-054791225D6A}" destId="{1042A864-CBC8-4713-83B4-1EEC76321810}" srcOrd="3" destOrd="0" presId="urn:microsoft.com/office/officeart/2018/2/layout/IconVerticalSolidList"/>
    <dgm:cxn modelId="{782B7528-A0B9-47B3-81EF-4DF67076AE7C}" type="presParOf" srcId="{171D8A08-375F-45B7-B52A-054791225D6A}" destId="{C7301677-F40F-42F5-A668-37136021158B}" srcOrd="4" destOrd="0" presId="urn:microsoft.com/office/officeart/2018/2/layout/IconVerticalSolidList"/>
    <dgm:cxn modelId="{E34CCD7B-2D57-41E9-9F97-C2F78AE91771}" type="presParOf" srcId="{C7301677-F40F-42F5-A668-37136021158B}" destId="{F595DAD1-5C1C-4AC4-9192-C61D2D0F79E4}" srcOrd="0" destOrd="0" presId="urn:microsoft.com/office/officeart/2018/2/layout/IconVerticalSolidList"/>
    <dgm:cxn modelId="{D64A9989-649D-485E-B532-9FB4652F5BAF}" type="presParOf" srcId="{C7301677-F40F-42F5-A668-37136021158B}" destId="{629B9702-F4B6-4425-9145-ADF084F47F23}" srcOrd="1" destOrd="0" presId="urn:microsoft.com/office/officeart/2018/2/layout/IconVerticalSolidList"/>
    <dgm:cxn modelId="{40A62AF8-8105-4EA9-945A-04867BF9FBC3}" type="presParOf" srcId="{C7301677-F40F-42F5-A668-37136021158B}" destId="{D9114E8C-D6EE-4053-895C-9D82819C01EB}" srcOrd="2" destOrd="0" presId="urn:microsoft.com/office/officeart/2018/2/layout/IconVerticalSolidList"/>
    <dgm:cxn modelId="{76842145-8533-46D1-A196-1D69DB9BF356}" type="presParOf" srcId="{C7301677-F40F-42F5-A668-37136021158B}" destId="{D5A2797B-4756-4F95-A710-D00D59BF1A39}" srcOrd="3" destOrd="0" presId="urn:microsoft.com/office/officeart/2018/2/layout/IconVerticalSolidList"/>
  </dgm:cxnLst>
  <dgm:bg>
    <a:noFill/>
  </dgm:bg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96692E4-A0B0-406E-BE4A-0B554218D280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34225C9-2362-45A9-ABE4-5229DAA2DCF9}">
      <dgm:prSet/>
      <dgm:spPr>
        <a:solidFill>
          <a:srgbClr val="002060"/>
        </a:solidFill>
        <a:ln>
          <a:noFill/>
        </a:ln>
      </dgm:spPr>
      <dgm:t>
        <a:bodyPr/>
        <a:lstStyle/>
        <a:p>
          <a:r>
            <a:rPr lang="en-US" dirty="0"/>
            <a:t>DDL – Data Definition Language: CREATE, ALTER, DROP.</a:t>
          </a:r>
        </a:p>
      </dgm:t>
    </dgm:pt>
    <dgm:pt modelId="{EDF160E9-BA0C-4BBA-8BD0-6DED138B3020}" type="parTrans" cxnId="{818C5CB2-F891-44BB-81F6-05CE2F03B2C6}">
      <dgm:prSet/>
      <dgm:spPr/>
      <dgm:t>
        <a:bodyPr/>
        <a:lstStyle/>
        <a:p>
          <a:endParaRPr lang="en-US"/>
        </a:p>
      </dgm:t>
    </dgm:pt>
    <dgm:pt modelId="{A3CAB7C7-522F-4B80-A306-772423E7ABE6}" type="sibTrans" cxnId="{818C5CB2-F891-44BB-81F6-05CE2F03B2C6}">
      <dgm:prSet/>
      <dgm:spPr/>
      <dgm:t>
        <a:bodyPr/>
        <a:lstStyle/>
        <a:p>
          <a:endParaRPr lang="en-US"/>
        </a:p>
      </dgm:t>
    </dgm:pt>
    <dgm:pt modelId="{46284FBB-76C3-4D7D-A573-E261E74AF2E4}">
      <dgm:prSet/>
      <dgm:spPr>
        <a:solidFill>
          <a:srgbClr val="002060"/>
        </a:solidFill>
        <a:ln>
          <a:noFill/>
        </a:ln>
      </dgm:spPr>
      <dgm:t>
        <a:bodyPr/>
        <a:lstStyle/>
        <a:p>
          <a:r>
            <a:rPr lang="en-US" dirty="0"/>
            <a:t>DML – Data Manipulation Language: INSERT, UPDATE, DELETE.</a:t>
          </a:r>
        </a:p>
      </dgm:t>
    </dgm:pt>
    <dgm:pt modelId="{D1F93368-E43B-4022-AC18-939095BB1DE1}" type="parTrans" cxnId="{B0FD0DB4-A28C-437E-AA71-65240E5705AB}">
      <dgm:prSet/>
      <dgm:spPr/>
      <dgm:t>
        <a:bodyPr/>
        <a:lstStyle/>
        <a:p>
          <a:endParaRPr lang="en-US"/>
        </a:p>
      </dgm:t>
    </dgm:pt>
    <dgm:pt modelId="{518188CA-832E-471B-9ED7-67AD4F335FC9}" type="sibTrans" cxnId="{B0FD0DB4-A28C-437E-AA71-65240E5705AB}">
      <dgm:prSet/>
      <dgm:spPr/>
      <dgm:t>
        <a:bodyPr/>
        <a:lstStyle/>
        <a:p>
          <a:endParaRPr lang="en-US"/>
        </a:p>
      </dgm:t>
    </dgm:pt>
    <dgm:pt modelId="{1585C201-9BD7-431D-B428-8019699C30ED}">
      <dgm:prSet/>
      <dgm:spPr>
        <a:solidFill>
          <a:srgbClr val="002060"/>
        </a:solidFill>
        <a:ln>
          <a:noFill/>
        </a:ln>
      </dgm:spPr>
      <dgm:t>
        <a:bodyPr/>
        <a:lstStyle/>
        <a:p>
          <a:r>
            <a:rPr lang="en-US"/>
            <a:t>DQL – Data Query Language: SELECT.</a:t>
          </a:r>
        </a:p>
      </dgm:t>
    </dgm:pt>
    <dgm:pt modelId="{F549F652-AECA-470A-A92C-FC4CE0E21640}" type="parTrans" cxnId="{BAD8A6FF-FCFB-4B18-AAD0-49BF0AA51F56}">
      <dgm:prSet/>
      <dgm:spPr/>
      <dgm:t>
        <a:bodyPr/>
        <a:lstStyle/>
        <a:p>
          <a:endParaRPr lang="en-US"/>
        </a:p>
      </dgm:t>
    </dgm:pt>
    <dgm:pt modelId="{47B736BC-84E4-4946-924C-50F48343E497}" type="sibTrans" cxnId="{BAD8A6FF-FCFB-4B18-AAD0-49BF0AA51F56}">
      <dgm:prSet/>
      <dgm:spPr/>
      <dgm:t>
        <a:bodyPr/>
        <a:lstStyle/>
        <a:p>
          <a:endParaRPr lang="en-US"/>
        </a:p>
      </dgm:t>
    </dgm:pt>
    <dgm:pt modelId="{B02D51EA-CA33-4A85-93AC-7025DC51320B}">
      <dgm:prSet/>
      <dgm:spPr>
        <a:solidFill>
          <a:srgbClr val="002060"/>
        </a:solidFill>
        <a:ln>
          <a:noFill/>
        </a:ln>
      </dgm:spPr>
      <dgm:t>
        <a:bodyPr/>
        <a:lstStyle/>
        <a:p>
          <a:r>
            <a:rPr lang="en-US" dirty="0"/>
            <a:t>DCL – Data Control Language: GRANT, REVOKE.</a:t>
          </a:r>
        </a:p>
      </dgm:t>
    </dgm:pt>
    <dgm:pt modelId="{A48446C0-248B-41D6-8249-4E75E8F96E69}" type="parTrans" cxnId="{DC9B5DFC-B03E-4649-AF9C-506A4641FF20}">
      <dgm:prSet/>
      <dgm:spPr/>
      <dgm:t>
        <a:bodyPr/>
        <a:lstStyle/>
        <a:p>
          <a:endParaRPr lang="en-US"/>
        </a:p>
      </dgm:t>
    </dgm:pt>
    <dgm:pt modelId="{CA346615-641D-42CC-A5D4-35570CB557F0}" type="sibTrans" cxnId="{DC9B5DFC-B03E-4649-AF9C-506A4641FF20}">
      <dgm:prSet/>
      <dgm:spPr/>
      <dgm:t>
        <a:bodyPr/>
        <a:lstStyle/>
        <a:p>
          <a:endParaRPr lang="en-US"/>
        </a:p>
      </dgm:t>
    </dgm:pt>
    <dgm:pt modelId="{2E011A26-62F9-49DC-BAE8-21DCB813AA06}">
      <dgm:prSet/>
      <dgm:spPr>
        <a:solidFill>
          <a:srgbClr val="002060"/>
        </a:solidFill>
        <a:ln>
          <a:noFill/>
        </a:ln>
      </dgm:spPr>
      <dgm:t>
        <a:bodyPr/>
        <a:lstStyle/>
        <a:p>
          <a:r>
            <a:rPr lang="en-US" dirty="0"/>
            <a:t>TCL – Transaction Control Language: COMMIT, ROLLBACK.</a:t>
          </a:r>
        </a:p>
      </dgm:t>
    </dgm:pt>
    <dgm:pt modelId="{9B8B207D-5F07-4CC8-A8EC-94D1EDC17379}" type="parTrans" cxnId="{994D95E8-0782-46F5-A7DA-BBE7C3B1ADBC}">
      <dgm:prSet/>
      <dgm:spPr/>
      <dgm:t>
        <a:bodyPr/>
        <a:lstStyle/>
        <a:p>
          <a:endParaRPr lang="en-US"/>
        </a:p>
      </dgm:t>
    </dgm:pt>
    <dgm:pt modelId="{7B1F3465-C4E6-4EA1-BE85-D79E3041712B}" type="sibTrans" cxnId="{994D95E8-0782-46F5-A7DA-BBE7C3B1ADBC}">
      <dgm:prSet/>
      <dgm:spPr/>
      <dgm:t>
        <a:bodyPr/>
        <a:lstStyle/>
        <a:p>
          <a:endParaRPr lang="en-US"/>
        </a:p>
      </dgm:t>
    </dgm:pt>
    <dgm:pt modelId="{5132D17D-1C56-4E18-A2CC-A64D5B4A0EE8}" type="pres">
      <dgm:prSet presAssocID="{B96692E4-A0B0-406E-BE4A-0B554218D280}" presName="diagram" presStyleCnt="0">
        <dgm:presLayoutVars>
          <dgm:dir/>
          <dgm:resizeHandles val="exact"/>
        </dgm:presLayoutVars>
      </dgm:prSet>
      <dgm:spPr/>
    </dgm:pt>
    <dgm:pt modelId="{2976F81A-86D0-49DB-B8F4-A70D265135F2}" type="pres">
      <dgm:prSet presAssocID="{D34225C9-2362-45A9-ABE4-5229DAA2DCF9}" presName="node" presStyleLbl="node1" presStyleIdx="0" presStyleCnt="5">
        <dgm:presLayoutVars>
          <dgm:bulletEnabled val="1"/>
        </dgm:presLayoutVars>
      </dgm:prSet>
      <dgm:spPr/>
    </dgm:pt>
    <dgm:pt modelId="{C6E4097A-0767-42C4-AD9C-A8C001CDC8AF}" type="pres">
      <dgm:prSet presAssocID="{A3CAB7C7-522F-4B80-A306-772423E7ABE6}" presName="sibTrans" presStyleCnt="0"/>
      <dgm:spPr/>
    </dgm:pt>
    <dgm:pt modelId="{18E2A59D-4DE2-4B2A-9C2C-84D5D90CB2E9}" type="pres">
      <dgm:prSet presAssocID="{46284FBB-76C3-4D7D-A573-E261E74AF2E4}" presName="node" presStyleLbl="node1" presStyleIdx="1" presStyleCnt="5">
        <dgm:presLayoutVars>
          <dgm:bulletEnabled val="1"/>
        </dgm:presLayoutVars>
      </dgm:prSet>
      <dgm:spPr/>
    </dgm:pt>
    <dgm:pt modelId="{C3D208A2-7768-40FC-ADDC-4E420F265EA1}" type="pres">
      <dgm:prSet presAssocID="{518188CA-832E-471B-9ED7-67AD4F335FC9}" presName="sibTrans" presStyleCnt="0"/>
      <dgm:spPr/>
    </dgm:pt>
    <dgm:pt modelId="{916909D6-E553-4652-A948-669D5078D107}" type="pres">
      <dgm:prSet presAssocID="{1585C201-9BD7-431D-B428-8019699C30ED}" presName="node" presStyleLbl="node1" presStyleIdx="2" presStyleCnt="5">
        <dgm:presLayoutVars>
          <dgm:bulletEnabled val="1"/>
        </dgm:presLayoutVars>
      </dgm:prSet>
      <dgm:spPr/>
    </dgm:pt>
    <dgm:pt modelId="{6B9763EE-D697-44AE-A3B5-D010573DE022}" type="pres">
      <dgm:prSet presAssocID="{47B736BC-84E4-4946-924C-50F48343E497}" presName="sibTrans" presStyleCnt="0"/>
      <dgm:spPr/>
    </dgm:pt>
    <dgm:pt modelId="{1A8CF7E1-A276-4CEB-9D84-01EC655B7912}" type="pres">
      <dgm:prSet presAssocID="{B02D51EA-CA33-4A85-93AC-7025DC51320B}" presName="node" presStyleLbl="node1" presStyleIdx="3" presStyleCnt="5">
        <dgm:presLayoutVars>
          <dgm:bulletEnabled val="1"/>
        </dgm:presLayoutVars>
      </dgm:prSet>
      <dgm:spPr/>
    </dgm:pt>
    <dgm:pt modelId="{7EE5EF15-E1E1-4506-9EAE-F585D5D8A382}" type="pres">
      <dgm:prSet presAssocID="{CA346615-641D-42CC-A5D4-35570CB557F0}" presName="sibTrans" presStyleCnt="0"/>
      <dgm:spPr/>
    </dgm:pt>
    <dgm:pt modelId="{1822715D-82BB-4786-A6B3-19229ED35DB5}" type="pres">
      <dgm:prSet presAssocID="{2E011A26-62F9-49DC-BAE8-21DCB813AA06}" presName="node" presStyleLbl="node1" presStyleIdx="4" presStyleCnt="5">
        <dgm:presLayoutVars>
          <dgm:bulletEnabled val="1"/>
        </dgm:presLayoutVars>
      </dgm:prSet>
      <dgm:spPr/>
    </dgm:pt>
  </dgm:ptLst>
  <dgm:cxnLst>
    <dgm:cxn modelId="{9471F702-9702-44D3-88DF-7532C5EF3432}" type="presOf" srcId="{B96692E4-A0B0-406E-BE4A-0B554218D280}" destId="{5132D17D-1C56-4E18-A2CC-A64D5B4A0EE8}" srcOrd="0" destOrd="0" presId="urn:microsoft.com/office/officeart/2005/8/layout/default"/>
    <dgm:cxn modelId="{ED0AD212-37B1-46B0-A230-5BB92D0AE5EA}" type="presOf" srcId="{1585C201-9BD7-431D-B428-8019699C30ED}" destId="{916909D6-E553-4652-A948-669D5078D107}" srcOrd="0" destOrd="0" presId="urn:microsoft.com/office/officeart/2005/8/layout/default"/>
    <dgm:cxn modelId="{629F9EA3-CBB9-4C3E-99CA-FFB5E65CC538}" type="presOf" srcId="{46284FBB-76C3-4D7D-A573-E261E74AF2E4}" destId="{18E2A59D-4DE2-4B2A-9C2C-84D5D90CB2E9}" srcOrd="0" destOrd="0" presId="urn:microsoft.com/office/officeart/2005/8/layout/default"/>
    <dgm:cxn modelId="{818C5CB2-F891-44BB-81F6-05CE2F03B2C6}" srcId="{B96692E4-A0B0-406E-BE4A-0B554218D280}" destId="{D34225C9-2362-45A9-ABE4-5229DAA2DCF9}" srcOrd="0" destOrd="0" parTransId="{EDF160E9-BA0C-4BBA-8BD0-6DED138B3020}" sibTransId="{A3CAB7C7-522F-4B80-A306-772423E7ABE6}"/>
    <dgm:cxn modelId="{B0FD0DB4-A28C-437E-AA71-65240E5705AB}" srcId="{B96692E4-A0B0-406E-BE4A-0B554218D280}" destId="{46284FBB-76C3-4D7D-A573-E261E74AF2E4}" srcOrd="1" destOrd="0" parTransId="{D1F93368-E43B-4022-AC18-939095BB1DE1}" sibTransId="{518188CA-832E-471B-9ED7-67AD4F335FC9}"/>
    <dgm:cxn modelId="{A282B9D3-0F04-4A32-94EB-9B8400ACD3EB}" type="presOf" srcId="{B02D51EA-CA33-4A85-93AC-7025DC51320B}" destId="{1A8CF7E1-A276-4CEB-9D84-01EC655B7912}" srcOrd="0" destOrd="0" presId="urn:microsoft.com/office/officeart/2005/8/layout/default"/>
    <dgm:cxn modelId="{209583E5-88DA-4DF9-80DF-25F0D68D2285}" type="presOf" srcId="{2E011A26-62F9-49DC-BAE8-21DCB813AA06}" destId="{1822715D-82BB-4786-A6B3-19229ED35DB5}" srcOrd="0" destOrd="0" presId="urn:microsoft.com/office/officeart/2005/8/layout/default"/>
    <dgm:cxn modelId="{994D95E8-0782-46F5-A7DA-BBE7C3B1ADBC}" srcId="{B96692E4-A0B0-406E-BE4A-0B554218D280}" destId="{2E011A26-62F9-49DC-BAE8-21DCB813AA06}" srcOrd="4" destOrd="0" parTransId="{9B8B207D-5F07-4CC8-A8EC-94D1EDC17379}" sibTransId="{7B1F3465-C4E6-4EA1-BE85-D79E3041712B}"/>
    <dgm:cxn modelId="{955178F1-229F-44FF-A28F-9E0C23349EF7}" type="presOf" srcId="{D34225C9-2362-45A9-ABE4-5229DAA2DCF9}" destId="{2976F81A-86D0-49DB-B8F4-A70D265135F2}" srcOrd="0" destOrd="0" presId="urn:microsoft.com/office/officeart/2005/8/layout/default"/>
    <dgm:cxn modelId="{DC9B5DFC-B03E-4649-AF9C-506A4641FF20}" srcId="{B96692E4-A0B0-406E-BE4A-0B554218D280}" destId="{B02D51EA-CA33-4A85-93AC-7025DC51320B}" srcOrd="3" destOrd="0" parTransId="{A48446C0-248B-41D6-8249-4E75E8F96E69}" sibTransId="{CA346615-641D-42CC-A5D4-35570CB557F0}"/>
    <dgm:cxn modelId="{BAD8A6FF-FCFB-4B18-AAD0-49BF0AA51F56}" srcId="{B96692E4-A0B0-406E-BE4A-0B554218D280}" destId="{1585C201-9BD7-431D-B428-8019699C30ED}" srcOrd="2" destOrd="0" parTransId="{F549F652-AECA-470A-A92C-FC4CE0E21640}" sibTransId="{47B736BC-84E4-4946-924C-50F48343E497}"/>
    <dgm:cxn modelId="{B637F522-7D26-4441-98BE-2B2D7DBFAFC7}" type="presParOf" srcId="{5132D17D-1C56-4E18-A2CC-A64D5B4A0EE8}" destId="{2976F81A-86D0-49DB-B8F4-A70D265135F2}" srcOrd="0" destOrd="0" presId="urn:microsoft.com/office/officeart/2005/8/layout/default"/>
    <dgm:cxn modelId="{3002BA2D-9BDE-4473-9EB5-5EF1518BD37B}" type="presParOf" srcId="{5132D17D-1C56-4E18-A2CC-A64D5B4A0EE8}" destId="{C6E4097A-0767-42C4-AD9C-A8C001CDC8AF}" srcOrd="1" destOrd="0" presId="urn:microsoft.com/office/officeart/2005/8/layout/default"/>
    <dgm:cxn modelId="{FFAFCB1E-A627-4480-B6CC-B5A0B05793BE}" type="presParOf" srcId="{5132D17D-1C56-4E18-A2CC-A64D5B4A0EE8}" destId="{18E2A59D-4DE2-4B2A-9C2C-84D5D90CB2E9}" srcOrd="2" destOrd="0" presId="urn:microsoft.com/office/officeart/2005/8/layout/default"/>
    <dgm:cxn modelId="{F763CF78-C541-44BC-B36B-40BAB9269BB2}" type="presParOf" srcId="{5132D17D-1C56-4E18-A2CC-A64D5B4A0EE8}" destId="{C3D208A2-7768-40FC-ADDC-4E420F265EA1}" srcOrd="3" destOrd="0" presId="urn:microsoft.com/office/officeart/2005/8/layout/default"/>
    <dgm:cxn modelId="{2D402ABA-0220-473D-9FE2-639F6CA731F0}" type="presParOf" srcId="{5132D17D-1C56-4E18-A2CC-A64D5B4A0EE8}" destId="{916909D6-E553-4652-A948-669D5078D107}" srcOrd="4" destOrd="0" presId="urn:microsoft.com/office/officeart/2005/8/layout/default"/>
    <dgm:cxn modelId="{358C5478-C942-4E49-9F9E-6BBD40C955C1}" type="presParOf" srcId="{5132D17D-1C56-4E18-A2CC-A64D5B4A0EE8}" destId="{6B9763EE-D697-44AE-A3B5-D010573DE022}" srcOrd="5" destOrd="0" presId="urn:microsoft.com/office/officeart/2005/8/layout/default"/>
    <dgm:cxn modelId="{0E15F4A8-6019-4685-8D99-4DCC24F2B94C}" type="presParOf" srcId="{5132D17D-1C56-4E18-A2CC-A64D5B4A0EE8}" destId="{1A8CF7E1-A276-4CEB-9D84-01EC655B7912}" srcOrd="6" destOrd="0" presId="urn:microsoft.com/office/officeart/2005/8/layout/default"/>
    <dgm:cxn modelId="{245F5454-E060-48B8-8BA3-C1A41686C07E}" type="presParOf" srcId="{5132D17D-1C56-4E18-A2CC-A64D5B4A0EE8}" destId="{7EE5EF15-E1E1-4506-9EAE-F585D5D8A382}" srcOrd="7" destOrd="0" presId="urn:microsoft.com/office/officeart/2005/8/layout/default"/>
    <dgm:cxn modelId="{31E60589-98DC-435D-B69D-477B5138A989}" type="presParOf" srcId="{5132D17D-1C56-4E18-A2CC-A64D5B4A0EE8}" destId="{1822715D-82BB-4786-A6B3-19229ED35DB5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B772EF-34EC-402F-BEC4-F483D4650FCD}">
      <dsp:nvSpPr>
        <dsp:cNvPr id="0" name=""/>
        <dsp:cNvSpPr/>
      </dsp:nvSpPr>
      <dsp:spPr>
        <a:xfrm>
          <a:off x="0" y="546"/>
          <a:ext cx="4694222" cy="127966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9ACBD6-C572-4259-9F25-FC1EE8597633}">
      <dsp:nvSpPr>
        <dsp:cNvPr id="0" name=""/>
        <dsp:cNvSpPr/>
      </dsp:nvSpPr>
      <dsp:spPr>
        <a:xfrm>
          <a:off x="387098" y="288471"/>
          <a:ext cx="703816" cy="70381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8C749D-69A3-4F4B-BE8F-26D848D3ED27}">
      <dsp:nvSpPr>
        <dsp:cNvPr id="0" name=""/>
        <dsp:cNvSpPr/>
      </dsp:nvSpPr>
      <dsp:spPr>
        <a:xfrm>
          <a:off x="1478014" y="546"/>
          <a:ext cx="3216207" cy="1279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431" tIns="135431" rIns="135431" bIns="135431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Structured Query Language (SQL) is the lingua franca of data.</a:t>
          </a:r>
        </a:p>
      </dsp:txBody>
      <dsp:txXfrm>
        <a:off x="1478014" y="546"/>
        <a:ext cx="3216207" cy="1279666"/>
      </dsp:txXfrm>
    </dsp:sp>
    <dsp:sp modelId="{F8021BCB-B4E0-40CA-BE92-72B947CE9C62}">
      <dsp:nvSpPr>
        <dsp:cNvPr id="0" name=""/>
        <dsp:cNvSpPr/>
      </dsp:nvSpPr>
      <dsp:spPr>
        <a:xfrm>
          <a:off x="0" y="1600129"/>
          <a:ext cx="4694222" cy="127966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19DC63-25A5-4699-99B1-B34FECD4E44C}">
      <dsp:nvSpPr>
        <dsp:cNvPr id="0" name=""/>
        <dsp:cNvSpPr/>
      </dsp:nvSpPr>
      <dsp:spPr>
        <a:xfrm>
          <a:off x="387098" y="1888054"/>
          <a:ext cx="703816" cy="70381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D857E2-07F5-4D8D-BE07-B22290B2A458}">
      <dsp:nvSpPr>
        <dsp:cNvPr id="0" name=""/>
        <dsp:cNvSpPr/>
      </dsp:nvSpPr>
      <dsp:spPr>
        <a:xfrm>
          <a:off x="1478014" y="1600129"/>
          <a:ext cx="3216207" cy="1279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431" tIns="135431" rIns="135431" bIns="135431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Declarative – describe what you want, not how to compute it.</a:t>
          </a:r>
        </a:p>
      </dsp:txBody>
      <dsp:txXfrm>
        <a:off x="1478014" y="1600129"/>
        <a:ext cx="3216207" cy="1279666"/>
      </dsp:txXfrm>
    </dsp:sp>
    <dsp:sp modelId="{F595DAD1-5C1C-4AC4-9192-C61D2D0F79E4}">
      <dsp:nvSpPr>
        <dsp:cNvPr id="0" name=""/>
        <dsp:cNvSpPr/>
      </dsp:nvSpPr>
      <dsp:spPr>
        <a:xfrm>
          <a:off x="0" y="3199712"/>
          <a:ext cx="4694222" cy="127966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9B9702-F4B6-4425-9145-ADF084F47F23}">
      <dsp:nvSpPr>
        <dsp:cNvPr id="0" name=""/>
        <dsp:cNvSpPr/>
      </dsp:nvSpPr>
      <dsp:spPr>
        <a:xfrm>
          <a:off x="387098" y="3487636"/>
          <a:ext cx="703816" cy="70381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A2797B-4756-4F95-A710-D00D59BF1A39}">
      <dsp:nvSpPr>
        <dsp:cNvPr id="0" name=""/>
        <dsp:cNvSpPr/>
      </dsp:nvSpPr>
      <dsp:spPr>
        <a:xfrm>
          <a:off x="1478014" y="3199712"/>
          <a:ext cx="3216207" cy="1279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431" tIns="135431" rIns="135431" bIns="135431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Portable across MySQL, PostgreSQL, DuckDB, BigQuery.</a:t>
          </a:r>
        </a:p>
      </dsp:txBody>
      <dsp:txXfrm>
        <a:off x="1478014" y="3199712"/>
        <a:ext cx="3216207" cy="12796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76F81A-86D0-49DB-B8F4-A70D265135F2}">
      <dsp:nvSpPr>
        <dsp:cNvPr id="0" name=""/>
        <dsp:cNvSpPr/>
      </dsp:nvSpPr>
      <dsp:spPr>
        <a:xfrm>
          <a:off x="0" y="591343"/>
          <a:ext cx="2571749" cy="1543050"/>
        </a:xfrm>
        <a:prstGeom prst="rect">
          <a:avLst/>
        </a:prstGeom>
        <a:solidFill>
          <a:srgbClr val="002060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DDL – Data Definition Language: CREATE, ALTER, DROP.</a:t>
          </a:r>
        </a:p>
      </dsp:txBody>
      <dsp:txXfrm>
        <a:off x="0" y="591343"/>
        <a:ext cx="2571749" cy="1543050"/>
      </dsp:txXfrm>
    </dsp:sp>
    <dsp:sp modelId="{18E2A59D-4DE2-4B2A-9C2C-84D5D90CB2E9}">
      <dsp:nvSpPr>
        <dsp:cNvPr id="0" name=""/>
        <dsp:cNvSpPr/>
      </dsp:nvSpPr>
      <dsp:spPr>
        <a:xfrm>
          <a:off x="2828925" y="591343"/>
          <a:ext cx="2571749" cy="1543050"/>
        </a:xfrm>
        <a:prstGeom prst="rect">
          <a:avLst/>
        </a:prstGeom>
        <a:solidFill>
          <a:srgbClr val="002060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DML – Data Manipulation Language: INSERT, UPDATE, DELETE.</a:t>
          </a:r>
        </a:p>
      </dsp:txBody>
      <dsp:txXfrm>
        <a:off x="2828925" y="591343"/>
        <a:ext cx="2571749" cy="1543050"/>
      </dsp:txXfrm>
    </dsp:sp>
    <dsp:sp modelId="{916909D6-E553-4652-A948-669D5078D107}">
      <dsp:nvSpPr>
        <dsp:cNvPr id="0" name=""/>
        <dsp:cNvSpPr/>
      </dsp:nvSpPr>
      <dsp:spPr>
        <a:xfrm>
          <a:off x="5657849" y="591343"/>
          <a:ext cx="2571749" cy="1543050"/>
        </a:xfrm>
        <a:prstGeom prst="rect">
          <a:avLst/>
        </a:prstGeom>
        <a:solidFill>
          <a:srgbClr val="002060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DQL – Data Query Language: SELECT.</a:t>
          </a:r>
        </a:p>
      </dsp:txBody>
      <dsp:txXfrm>
        <a:off x="5657849" y="591343"/>
        <a:ext cx="2571749" cy="1543050"/>
      </dsp:txXfrm>
    </dsp:sp>
    <dsp:sp modelId="{1A8CF7E1-A276-4CEB-9D84-01EC655B7912}">
      <dsp:nvSpPr>
        <dsp:cNvPr id="0" name=""/>
        <dsp:cNvSpPr/>
      </dsp:nvSpPr>
      <dsp:spPr>
        <a:xfrm>
          <a:off x="1414462" y="2391569"/>
          <a:ext cx="2571749" cy="1543050"/>
        </a:xfrm>
        <a:prstGeom prst="rect">
          <a:avLst/>
        </a:prstGeom>
        <a:solidFill>
          <a:srgbClr val="002060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DCL – Data Control Language: GRANT, REVOKE.</a:t>
          </a:r>
        </a:p>
      </dsp:txBody>
      <dsp:txXfrm>
        <a:off x="1414462" y="2391569"/>
        <a:ext cx="2571749" cy="1543050"/>
      </dsp:txXfrm>
    </dsp:sp>
    <dsp:sp modelId="{1822715D-82BB-4786-A6B3-19229ED35DB5}">
      <dsp:nvSpPr>
        <dsp:cNvPr id="0" name=""/>
        <dsp:cNvSpPr/>
      </dsp:nvSpPr>
      <dsp:spPr>
        <a:xfrm>
          <a:off x="4243387" y="2391569"/>
          <a:ext cx="2571749" cy="1543050"/>
        </a:xfrm>
        <a:prstGeom prst="rect">
          <a:avLst/>
        </a:prstGeom>
        <a:solidFill>
          <a:srgbClr val="002060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TCL – Transaction Control Language: COMMIT, ROLLBACK.</a:t>
          </a:r>
        </a:p>
      </dsp:txBody>
      <dsp:txXfrm>
        <a:off x="4243387" y="2391569"/>
        <a:ext cx="2571749" cy="15430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A45AFE-2047-4C23-8817-E93C96F78FF1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62690D-F182-4A4E-A989-547AD2961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060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62690D-F182-4A4E-A989-547AD296156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402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791B33F-CE76-4EF1-8227-54ED041CD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14476" y="557189"/>
            <a:ext cx="6600606" cy="2956233"/>
          </a:xfrm>
        </p:spPr>
        <p:txBody>
          <a:bodyPr anchor="b">
            <a:normAutofit/>
          </a:bodyPr>
          <a:lstStyle/>
          <a:p>
            <a:pPr algn="l"/>
            <a:r>
              <a:rPr lang="en-US" sz="5000" dirty="0"/>
              <a:t>Week 1: Foundations of SQL with </a:t>
            </a:r>
            <a:r>
              <a:rPr lang="en-US" sz="5000" dirty="0" err="1"/>
              <a:t>DuckDB</a:t>
            </a:r>
            <a:r>
              <a:rPr lang="en-US" sz="5000" dirty="0"/>
              <a:t> and NYC Taxi Dataset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4476" y="3728615"/>
            <a:ext cx="5561303" cy="1386594"/>
          </a:xfrm>
        </p:spPr>
        <p:txBody>
          <a:bodyPr>
            <a:normAutofit/>
          </a:bodyPr>
          <a:lstStyle/>
          <a:p>
            <a:pPr algn="l"/>
            <a:r>
              <a:rPr lang="en-US" sz="2800" dirty="0"/>
              <a:t>Kickoff &amp; Setup | Database Theory, SQL, Data Types, CRUD, and  Data Integrity</a:t>
            </a:r>
          </a:p>
        </p:txBody>
      </p:sp>
      <p:pic>
        <p:nvPicPr>
          <p:cNvPr id="7" name="Graphic 6" descr="Taxi">
            <a:extLst>
              <a:ext uri="{FF2B5EF4-FFF2-40B4-BE49-F238E27FC236}">
                <a16:creationId xmlns:a16="http://schemas.microsoft.com/office/drawing/2014/main" id="{54F52746-6CA8-0778-16A5-EE9EF8CA3F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987" y="2536030"/>
            <a:ext cx="852488" cy="8524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71" name="Rectangle 107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2287" y="499397"/>
            <a:ext cx="4447066" cy="16401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5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is a Database?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2287" y="2423821"/>
            <a:ext cx="4447067" cy="3288916"/>
          </a:xfrm>
        </p:spPr>
        <p:txBody>
          <a:bodyPr vert="horz" lIns="91440" tIns="45720" rIns="91440" bIns="45720" rtlCol="0">
            <a:no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 sz="2000"/>
            </a:pPr>
            <a:r>
              <a:rPr lang="en-US" sz="2000" dirty="0"/>
              <a:t>Structured collection of related data with implicit meaning.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 sz="2000"/>
            </a:pPr>
            <a:r>
              <a:rPr lang="en-US" sz="2000" dirty="0"/>
              <a:t>Goes beyond flat files – adds relationships, constraints, efficiency.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 sz="2000"/>
            </a:pPr>
            <a:r>
              <a:rPr lang="en-US" sz="2000" dirty="0"/>
              <a:t>Example: NYC Taxi dataset with 15M+ trips in a month.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 sz="2000"/>
            </a:pPr>
            <a:r>
              <a:rPr lang="en-US" sz="2000" dirty="0"/>
              <a:t>Reference: Fundamentals of Database Systems (Elmasri &amp; Navathe).</a:t>
            </a:r>
          </a:p>
        </p:txBody>
      </p:sp>
      <p:pic>
        <p:nvPicPr>
          <p:cNvPr id="1026" name="Picture 2" descr="SQL Database | Custom software | Netgen">
            <a:extLst>
              <a:ext uri="{FF2B5EF4-FFF2-40B4-BE49-F238E27FC236}">
                <a16:creationId xmlns:a16="http://schemas.microsoft.com/office/drawing/2014/main" id="{C01C6E05-7064-D8B7-AB70-603F4EDECF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09129" y="1963271"/>
            <a:ext cx="2823882" cy="2823882"/>
          </a:xfrm>
          <a:prstGeom prst="rect">
            <a:avLst/>
          </a:prstGeom>
          <a:solidFill>
            <a:srgbClr val="002060"/>
          </a:solidFill>
        </p:spPr>
      </p:pic>
      <p:sp>
        <p:nvSpPr>
          <p:cNvPr id="1072" name="Rectangle 1071">
            <a:extLst>
              <a:ext uri="{FF2B5EF4-FFF2-40B4-BE49-F238E27FC236}">
                <a16:creationId xmlns:a16="http://schemas.microsoft.com/office/drawing/2014/main" id="{61707E60-CEC9-4661-AA82-69242EB4B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9143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0" name="Rectangle 1069">
            <a:extLst>
              <a:ext uri="{FF2B5EF4-FFF2-40B4-BE49-F238E27FC236}">
                <a16:creationId xmlns:a16="http://schemas.microsoft.com/office/drawing/2014/main" id="{8F035CD8-AE30-4146-96F2-036B0CE5E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5" y="6406115"/>
            <a:ext cx="3057523" cy="464399"/>
          </a:xfrm>
          <a:prstGeom prst="rect">
            <a:avLst/>
          </a:prstGeom>
          <a:gradFill>
            <a:gsLst>
              <a:gs pos="19000">
                <a:srgbClr val="000000">
                  <a:alpha val="46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FFBEE45-F140-49D5-85EA-C78C24340B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-1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3696290" cy="5763963"/>
          </a:xfrm>
        </p:spPr>
        <p:txBody>
          <a:bodyPr>
            <a:normAutofit/>
          </a:bodyPr>
          <a:lstStyle/>
          <a:p>
            <a:r>
              <a:rPr lang="en-US" sz="5500" b="1" dirty="0"/>
              <a:t>Why Databases?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29150" y="869321"/>
            <a:ext cx="3886200" cy="5119356"/>
          </a:xfrm>
        </p:spPr>
        <p:txBody>
          <a:bodyPr anchor="ctr">
            <a:noAutofit/>
          </a:bodyPr>
          <a:lstStyle/>
          <a:p>
            <a:endParaRPr lang="en-US" sz="2000" dirty="0"/>
          </a:p>
          <a:p>
            <a:pPr>
              <a:defRPr sz="2000"/>
            </a:pPr>
            <a:r>
              <a:rPr lang="en-US" sz="2000" dirty="0"/>
              <a:t>Scalability – handle millions of records efficiently.</a:t>
            </a:r>
          </a:p>
          <a:p>
            <a:pPr>
              <a:defRPr sz="2000"/>
            </a:pPr>
            <a:r>
              <a:rPr lang="en-US" sz="2000" dirty="0"/>
              <a:t>Integrity – enforce rules (no negative fares, valid dates).</a:t>
            </a:r>
          </a:p>
          <a:p>
            <a:pPr>
              <a:defRPr sz="2000"/>
            </a:pPr>
            <a:r>
              <a:rPr lang="en-US" sz="2000" dirty="0"/>
              <a:t>Concurrency – multiple users read/write safely.</a:t>
            </a:r>
          </a:p>
          <a:p>
            <a:pPr>
              <a:defRPr sz="2000"/>
            </a:pPr>
            <a:r>
              <a:rPr lang="en-US" sz="2000" dirty="0"/>
              <a:t>Declarative Power – ask 'what' not 'how’.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3238"/>
            <a:ext cx="8229600" cy="1143000"/>
          </a:xfrm>
        </p:spPr>
        <p:txBody>
          <a:bodyPr>
            <a:normAutofit/>
          </a:bodyPr>
          <a:lstStyle/>
          <a:p>
            <a:r>
              <a:rPr sz="5000" b="1" dirty="0"/>
              <a:t>SQL as a Query Language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5D5DB03-3302-A5D7-2B4B-99B61FF1BA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940755"/>
              </p:ext>
            </p:extLst>
          </p:nvPr>
        </p:nvGraphicFramePr>
        <p:xfrm>
          <a:off x="3992578" y="1646238"/>
          <a:ext cx="4694222" cy="4479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89F9426B-C3BC-57E3-405E-3E2D3457D57C}"/>
              </a:ext>
            </a:extLst>
          </p:cNvPr>
          <p:cNvGrpSpPr/>
          <p:nvPr/>
        </p:nvGrpSpPr>
        <p:grpSpPr>
          <a:xfrm>
            <a:off x="477032" y="2697933"/>
            <a:ext cx="3368987" cy="1840439"/>
            <a:chOff x="-412571" y="1482150"/>
            <a:chExt cx="7827819" cy="184043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CB90834-68F2-8EFE-84F2-5C82134A9BCC}"/>
                </a:ext>
              </a:extLst>
            </p:cNvPr>
            <p:cNvSpPr/>
            <p:nvPr/>
          </p:nvSpPr>
          <p:spPr>
            <a:xfrm>
              <a:off x="90151" y="2602589"/>
              <a:ext cx="2402775" cy="72000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451D5A2-1197-AFDE-32C0-D9CBDDA37DCA}"/>
                </a:ext>
              </a:extLst>
            </p:cNvPr>
            <p:cNvSpPr txBox="1"/>
            <p:nvPr/>
          </p:nvSpPr>
          <p:spPr>
            <a:xfrm>
              <a:off x="-412571" y="1482150"/>
              <a:ext cx="7827819" cy="184043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defTabSz="6667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500" kern="1200" dirty="0"/>
                <a:t>SQL is language used to interact with database systems. We can use it </a:t>
              </a:r>
              <a:r>
                <a:rPr lang="en-US" sz="1500" dirty="0"/>
                <a:t>to retrieve specific data, perform operations directly on the database, or even generate reports. </a:t>
              </a:r>
              <a:endParaRPr lang="en-US" sz="1500" kern="1200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rmAutofit/>
          </a:bodyPr>
          <a:lstStyle/>
          <a:p>
            <a:r>
              <a:rPr lang="en-US" sz="5000" dirty="0"/>
              <a:t>Categories of SQL Commands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F3DD3CE-7AB8-A164-5897-2AC3EA0DA8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6895877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62050"/>
          </a:xfrm>
        </p:spPr>
        <p:txBody>
          <a:bodyPr>
            <a:noAutofit/>
          </a:bodyPr>
          <a:lstStyle/>
          <a:p>
            <a:r>
              <a:rPr sz="5000" dirty="0"/>
              <a:t>Data Types: Why They 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435100"/>
            <a:ext cx="5111750" cy="4691063"/>
          </a:xfrm>
        </p:spPr>
        <p:txBody>
          <a:bodyPr anchor="ctr">
            <a:normAutofit/>
          </a:bodyPr>
          <a:lstStyle/>
          <a:p>
            <a:pPr marL="0" indent="0">
              <a:buNone/>
              <a:defRPr sz="2000"/>
            </a:pPr>
            <a:r>
              <a:rPr sz="2500" dirty="0"/>
              <a:t>Define what kind of data each column accepts.</a:t>
            </a:r>
          </a:p>
          <a:p>
            <a:pPr marL="0" indent="0">
              <a:buNone/>
              <a:defRPr sz="2000"/>
            </a:pPr>
            <a:r>
              <a:rPr sz="2500" dirty="0"/>
              <a:t>Prevent invalid or corrupted entries (e.g., invalid dates, negative fares).</a:t>
            </a:r>
          </a:p>
          <a:p>
            <a:pPr marL="0" indent="0">
              <a:buNone/>
              <a:defRPr sz="2000"/>
            </a:pPr>
            <a:r>
              <a:rPr sz="2500" dirty="0"/>
              <a:t>NUMERIC(10,2) – precise fares and tips.</a:t>
            </a:r>
          </a:p>
          <a:p>
            <a:pPr marL="0" indent="0">
              <a:buNone/>
              <a:defRPr sz="2000"/>
            </a:pPr>
            <a:r>
              <a:rPr sz="2500" dirty="0"/>
              <a:t>VARCHAR(100) – driver names.</a:t>
            </a:r>
          </a:p>
          <a:p>
            <a:pPr marL="0" indent="0">
              <a:buNone/>
              <a:defRPr sz="2000"/>
            </a:pPr>
            <a:r>
              <a:rPr sz="2500" dirty="0"/>
              <a:t>DATE/TIMESTAMP – trip times.</a:t>
            </a:r>
          </a:p>
          <a:p>
            <a:pPr marL="0" indent="0">
              <a:buNone/>
              <a:defRPr sz="2000"/>
            </a:pPr>
            <a:r>
              <a:rPr sz="2500" dirty="0"/>
              <a:t>JSON – metadata (device, promotions).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2701B4-5C1D-CB84-38C0-A0ACFD2B66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1939768"/>
            <a:ext cx="3008313" cy="3681727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/>
          <a:p>
            <a:r>
              <a:rPr lang="en-US" sz="3500" dirty="0"/>
              <a:t>TEXT</a:t>
            </a:r>
          </a:p>
          <a:p>
            <a:r>
              <a:rPr lang="en-US" sz="1600" dirty="0"/>
              <a:t>CHAR, VARCHAR, TEXT</a:t>
            </a:r>
          </a:p>
          <a:p>
            <a:r>
              <a:rPr lang="en-US" sz="3500" dirty="0"/>
              <a:t>NUMERIC</a:t>
            </a:r>
          </a:p>
          <a:p>
            <a:r>
              <a:rPr lang="en-US" sz="1600" dirty="0"/>
              <a:t>INT, DECIMAL</a:t>
            </a:r>
          </a:p>
          <a:p>
            <a:r>
              <a:rPr lang="en-US" sz="3500" dirty="0"/>
              <a:t>DATE|TIME</a:t>
            </a:r>
          </a:p>
          <a:p>
            <a:r>
              <a:rPr lang="en-US" sz="1600" dirty="0"/>
              <a:t>DATE, TIMESTAMP, TIME, INTERVAL</a:t>
            </a:r>
          </a:p>
          <a:p>
            <a:r>
              <a:rPr lang="en-US" sz="3500" dirty="0"/>
              <a:t>ARRAYS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3D pattern of ring shapes connected by lines">
            <a:extLst>
              <a:ext uri="{FF2B5EF4-FFF2-40B4-BE49-F238E27FC236}">
                <a16:creationId xmlns:a16="http://schemas.microsoft.com/office/drawing/2014/main" id="{927EC46F-0DC2-11BB-B3A6-85F2D5C7D6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998" r="49721"/>
          <a:stretch>
            <a:fillRect/>
          </a:stretch>
        </p:blipFill>
        <p:spPr>
          <a:xfrm>
            <a:off x="20" y="-2"/>
            <a:ext cx="4057627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6487" y="405685"/>
            <a:ext cx="4098726" cy="1559301"/>
          </a:xfrm>
        </p:spPr>
        <p:txBody>
          <a:bodyPr>
            <a:noAutofit/>
          </a:bodyPr>
          <a:lstStyle/>
          <a:p>
            <a:r>
              <a:rPr lang="en-US" sz="5000" dirty="0"/>
              <a:t>CRUD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1054" y="2743200"/>
            <a:ext cx="4530437" cy="3496878"/>
          </a:xfrm>
        </p:spPr>
        <p:txBody>
          <a:bodyPr anchor="ctr">
            <a:noAutofit/>
          </a:bodyPr>
          <a:lstStyle/>
          <a:p>
            <a:pPr marL="0" indent="0">
              <a:buNone/>
              <a:defRPr sz="2000"/>
            </a:pPr>
            <a:r>
              <a:rPr lang="en-US" sz="2300" dirty="0"/>
              <a:t>Core of all data interaction: Create, Read, Update, Delete.</a:t>
            </a:r>
          </a:p>
          <a:p>
            <a:pPr marL="0" indent="0">
              <a:buNone/>
              <a:defRPr sz="2000"/>
            </a:pPr>
            <a:r>
              <a:rPr lang="en-US" sz="2300" dirty="0"/>
              <a:t>Maps directly to SQL operations.</a:t>
            </a:r>
          </a:p>
          <a:p>
            <a:pPr marL="0" indent="0">
              <a:buNone/>
              <a:defRPr sz="2000"/>
            </a:pPr>
            <a:r>
              <a:rPr lang="en-US" sz="2300" dirty="0"/>
              <a:t>Create → INSERT, Read → SELECT, Update → UPDATE, Delete → DELETE.</a:t>
            </a:r>
          </a:p>
          <a:p>
            <a:pPr marL="0" indent="0">
              <a:buNone/>
              <a:defRPr sz="2000"/>
            </a:pPr>
            <a:r>
              <a:rPr lang="en-US" sz="2300" dirty="0"/>
              <a:t>Every app (banking, e-commerce, taxi systems) relies on CRUD operations.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297" y="502021"/>
            <a:ext cx="5783893" cy="1642969"/>
          </a:xfrm>
        </p:spPr>
        <p:txBody>
          <a:bodyPr anchor="b">
            <a:normAutofit/>
          </a:bodyPr>
          <a:lstStyle/>
          <a:p>
            <a:pPr algn="l"/>
            <a:r>
              <a:rPr lang="en-US" sz="5000" dirty="0"/>
              <a:t>Create – INSERT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297" y="2418408"/>
            <a:ext cx="3719703" cy="3522569"/>
          </a:xfrm>
        </p:spPr>
        <p:txBody>
          <a:bodyPr anchor="t">
            <a:normAutofit/>
          </a:bodyPr>
          <a:lstStyle/>
          <a:p>
            <a:pPr>
              <a:defRPr sz="2000"/>
            </a:pPr>
            <a:r>
              <a:rPr lang="en-US" sz="2500" dirty="0"/>
              <a:t>INSERT adds new records to a table.</a:t>
            </a:r>
          </a:p>
          <a:p>
            <a:pPr>
              <a:defRPr sz="2000"/>
            </a:pPr>
            <a:r>
              <a:rPr lang="en-US" sz="2500" dirty="0"/>
              <a:t>Respects schema rules (types, NOT NULL, keys).</a:t>
            </a:r>
          </a:p>
          <a:p>
            <a:pPr>
              <a:defRPr sz="2000"/>
            </a:pPr>
            <a:r>
              <a:rPr lang="en-US" sz="2500" dirty="0"/>
              <a:t>Invalid data (e.g., wrong type, duplicate PK) resolves to an error.</a:t>
            </a:r>
          </a:p>
        </p:txBody>
      </p:sp>
      <p:pic>
        <p:nvPicPr>
          <p:cNvPr id="7" name="Graphic 6" descr="Error">
            <a:extLst>
              <a:ext uri="{FF2B5EF4-FFF2-40B4-BE49-F238E27FC236}">
                <a16:creationId xmlns:a16="http://schemas.microsoft.com/office/drawing/2014/main" id="{A0F48230-A88B-3577-C91E-216D456B0F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85806" y="1688197"/>
            <a:ext cx="3900767" cy="3900767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28950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297" y="502021"/>
            <a:ext cx="5376487" cy="1642969"/>
          </a:xfrm>
        </p:spPr>
        <p:txBody>
          <a:bodyPr anchor="b">
            <a:normAutofit/>
          </a:bodyPr>
          <a:lstStyle/>
          <a:p>
            <a:pPr algn="l"/>
            <a:r>
              <a:rPr lang="en-US" sz="5000" dirty="0"/>
              <a:t>Read – SELECT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297" y="2144990"/>
            <a:ext cx="4181430" cy="3819430"/>
          </a:xfrm>
        </p:spPr>
        <p:txBody>
          <a:bodyPr anchor="t">
            <a:noAutofit/>
          </a:bodyPr>
          <a:lstStyle/>
          <a:p>
            <a:endParaRPr lang="en-US" sz="2000" dirty="0"/>
          </a:p>
          <a:p>
            <a:pPr>
              <a:defRPr sz="2000"/>
            </a:pPr>
            <a:r>
              <a:rPr lang="en-US" sz="2000" dirty="0"/>
              <a:t>SELECT retrieves data, supports filters, aggregations, ordering.</a:t>
            </a:r>
          </a:p>
          <a:p>
            <a:pPr>
              <a:defRPr sz="2000"/>
            </a:pPr>
            <a:r>
              <a:rPr lang="en-US" sz="2000" dirty="0"/>
              <a:t>Most used SQL command – query language core.</a:t>
            </a:r>
          </a:p>
          <a:p>
            <a:pPr>
              <a:defRPr sz="2000"/>
            </a:pPr>
            <a:r>
              <a:rPr lang="en-US" sz="2000" dirty="0"/>
              <a:t>SELECT AVG(</a:t>
            </a:r>
            <a:r>
              <a:rPr lang="en-US" sz="2000" dirty="0" err="1"/>
              <a:t>fare_amount</a:t>
            </a:r>
            <a:r>
              <a:rPr lang="en-US" sz="2000" dirty="0"/>
              <a:t>) AS </a:t>
            </a:r>
            <a:r>
              <a:rPr lang="en-US" sz="2000" dirty="0" err="1"/>
              <a:t>avg_fare</a:t>
            </a:r>
            <a:r>
              <a:rPr lang="en-US" sz="2000" dirty="0"/>
              <a:t>, </a:t>
            </a:r>
            <a:r>
              <a:rPr lang="en-US" sz="2000" dirty="0" err="1"/>
              <a:t>passenger_count</a:t>
            </a:r>
            <a:r>
              <a:rPr lang="en-US" sz="2000" dirty="0"/>
              <a:t> FROM trips GROUP BY </a:t>
            </a:r>
            <a:r>
              <a:rPr lang="en-US" sz="2000" dirty="0" err="1"/>
              <a:t>passenger_count</a:t>
            </a:r>
            <a:r>
              <a:rPr lang="en-US" sz="2000" dirty="0"/>
              <a:t>;</a:t>
            </a:r>
          </a:p>
          <a:p>
            <a:pPr>
              <a:defRPr sz="2000"/>
            </a:pPr>
            <a:r>
              <a:rPr lang="en-US" sz="2000" dirty="0"/>
              <a:t>Example: average fare by passenger count.</a:t>
            </a:r>
          </a:p>
        </p:txBody>
      </p:sp>
      <p:pic>
        <p:nvPicPr>
          <p:cNvPr id="7" name="Graphic 6" descr="Table">
            <a:extLst>
              <a:ext uri="{FF2B5EF4-FFF2-40B4-BE49-F238E27FC236}">
                <a16:creationId xmlns:a16="http://schemas.microsoft.com/office/drawing/2014/main" id="{ABFC644F-3A84-4BEB-E0B8-F16B162690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84331" y="1271738"/>
            <a:ext cx="3900767" cy="390076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28950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7375" y="489508"/>
            <a:ext cx="4316172" cy="1667569"/>
          </a:xfrm>
        </p:spPr>
        <p:txBody>
          <a:bodyPr anchor="b">
            <a:normAutofit/>
          </a:bodyPr>
          <a:lstStyle/>
          <a:p>
            <a:pPr algn="l"/>
            <a:r>
              <a:rPr lang="en-US" sz="5000"/>
              <a:t>Update – UPDATE</a:t>
            </a:r>
          </a:p>
        </p:txBody>
      </p:sp>
      <p:pic>
        <p:nvPicPr>
          <p:cNvPr id="7" name="Graphic 6" descr="HummingBird">
            <a:extLst>
              <a:ext uri="{FF2B5EF4-FFF2-40B4-BE49-F238E27FC236}">
                <a16:creationId xmlns:a16="http://schemas.microsoft.com/office/drawing/2014/main" id="{7B314E55-E0BE-5A79-48C5-8F09B5B5FB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1097" y="1759590"/>
            <a:ext cx="2907124" cy="2907124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7376" y="2405894"/>
            <a:ext cx="4316172" cy="2907124"/>
          </a:xfrm>
        </p:spPr>
        <p:txBody>
          <a:bodyPr anchor="t">
            <a:normAutofit/>
          </a:bodyPr>
          <a:lstStyle/>
          <a:p>
            <a:endParaRPr lang="en-US" sz="2000" dirty="0"/>
          </a:p>
          <a:p>
            <a:pPr>
              <a:defRPr sz="2000"/>
            </a:pPr>
            <a:r>
              <a:rPr lang="en-US" sz="2000" dirty="0"/>
              <a:t>UPDATE modifies existing rows.</a:t>
            </a:r>
          </a:p>
          <a:p>
            <a:pPr>
              <a:defRPr sz="2000"/>
            </a:pPr>
            <a:r>
              <a:rPr lang="en-US" sz="2000" dirty="0"/>
              <a:t>Be cautious: without WHERE, all rows are updated.</a:t>
            </a:r>
          </a:p>
          <a:p>
            <a:pPr>
              <a:defRPr sz="2000"/>
            </a:pPr>
            <a:r>
              <a:rPr lang="en-US" sz="2000" dirty="0"/>
              <a:t>Demo: UPDATE trips SET </a:t>
            </a:r>
            <a:r>
              <a:rPr lang="en-US" sz="2000" dirty="0" err="1"/>
              <a:t>tip_amount</a:t>
            </a:r>
            <a:r>
              <a:rPr lang="en-US" sz="2000" dirty="0"/>
              <a:t> = 5.00 WHERE </a:t>
            </a:r>
            <a:r>
              <a:rPr lang="en-US" sz="2000" dirty="0" err="1"/>
              <a:t>trip_id</a:t>
            </a:r>
            <a:r>
              <a:rPr lang="en-US" sz="2000" dirty="0"/>
              <a:t> = 1001;</a:t>
            </a:r>
          </a:p>
          <a:p>
            <a:pPr>
              <a:defRPr sz="2000"/>
            </a:pPr>
            <a:r>
              <a:rPr lang="en-US" sz="2000" dirty="0"/>
              <a:t>Best practice: run SELECT before UPDATE to preview effect.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28950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7374" y="489508"/>
            <a:ext cx="4466791" cy="1667569"/>
          </a:xfrm>
        </p:spPr>
        <p:txBody>
          <a:bodyPr anchor="b">
            <a:normAutofit/>
          </a:bodyPr>
          <a:lstStyle/>
          <a:p>
            <a:pPr algn="l"/>
            <a:r>
              <a:rPr lang="en-US" sz="5000" dirty="0"/>
              <a:t>Delete – DELETE</a:t>
            </a:r>
          </a:p>
        </p:txBody>
      </p:sp>
      <p:pic>
        <p:nvPicPr>
          <p:cNvPr id="7" name="Graphic 6" descr="Delete Table">
            <a:extLst>
              <a:ext uri="{FF2B5EF4-FFF2-40B4-BE49-F238E27FC236}">
                <a16:creationId xmlns:a16="http://schemas.microsoft.com/office/drawing/2014/main" id="{7F6056D0-2A10-3EB7-43E4-E399DDC484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1097" y="1759590"/>
            <a:ext cx="2907124" cy="2907124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7376" y="2342519"/>
            <a:ext cx="4316172" cy="3705195"/>
          </a:xfrm>
        </p:spPr>
        <p:txBody>
          <a:bodyPr anchor="t">
            <a:noAutofit/>
          </a:bodyPr>
          <a:lstStyle/>
          <a:p>
            <a:endParaRPr lang="en-US" sz="2000" dirty="0"/>
          </a:p>
          <a:p>
            <a:pPr>
              <a:defRPr sz="2000"/>
            </a:pPr>
            <a:r>
              <a:rPr lang="en-US" sz="2000" dirty="0"/>
              <a:t>DELETE removes rows from a table.</a:t>
            </a:r>
          </a:p>
          <a:p>
            <a:pPr>
              <a:defRPr sz="2000"/>
            </a:pPr>
            <a:r>
              <a:rPr lang="en-US" sz="2000" dirty="0"/>
              <a:t>Must specify WHERE carefully to avoid data loss.</a:t>
            </a:r>
          </a:p>
          <a:p>
            <a:pPr>
              <a:defRPr sz="2000"/>
            </a:pPr>
            <a:r>
              <a:rPr lang="en-US" sz="2000" dirty="0"/>
              <a:t>Demo: DELETE FROM trips WHERE </a:t>
            </a:r>
            <a:r>
              <a:rPr lang="en-US" sz="2000" dirty="0" err="1"/>
              <a:t>trip_id</a:t>
            </a:r>
            <a:r>
              <a:rPr lang="en-US" sz="2000" dirty="0"/>
              <a:t> = 1001;</a:t>
            </a:r>
          </a:p>
          <a:p>
            <a:pPr>
              <a:defRPr sz="2000"/>
            </a:pPr>
            <a:r>
              <a:rPr lang="en-US" sz="2000" dirty="0"/>
              <a:t>Without WHERE – entire table wiped.</a:t>
            </a:r>
          </a:p>
          <a:p>
            <a:pPr>
              <a:defRPr sz="2000"/>
            </a:pPr>
            <a:r>
              <a:rPr lang="en-US" sz="2000" dirty="0"/>
              <a:t>Some systems use soft deletes instead of hard deletes.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28950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576</Words>
  <Application>Microsoft Office PowerPoint</Application>
  <PresentationFormat>On-screen Show (4:3)</PresentationFormat>
  <Paragraphs>68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Week 1: Foundations of SQL with DuckDB and NYC Taxi Dataset</vt:lpstr>
      <vt:lpstr>What is a Database?</vt:lpstr>
      <vt:lpstr>Why Databases?</vt:lpstr>
      <vt:lpstr>SQL as a Query Language</vt:lpstr>
      <vt:lpstr>Categories of SQL Commands</vt:lpstr>
      <vt:lpstr>Data Types: Why They Matter</vt:lpstr>
      <vt:lpstr>CRUD Overview</vt:lpstr>
      <vt:lpstr>Create – INSERT</vt:lpstr>
      <vt:lpstr>Read – SELECT</vt:lpstr>
      <vt:lpstr>Update – UPDATE</vt:lpstr>
      <vt:lpstr>Delete – DELETE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Cynthia Barongo</cp:lastModifiedBy>
  <cp:revision>2</cp:revision>
  <dcterms:created xsi:type="dcterms:W3CDTF">2013-01-27T09:14:16Z</dcterms:created>
  <dcterms:modified xsi:type="dcterms:W3CDTF">2025-08-16T16:24:05Z</dcterms:modified>
  <cp:category/>
</cp:coreProperties>
</file>